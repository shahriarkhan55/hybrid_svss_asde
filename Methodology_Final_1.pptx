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88825" cy="10515600"/>
  <p:notesSz cx="7104063" cy="10234613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95" autoAdjust="0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256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B K.M SHAHRIAR ALAM" userId="cb92b437-61af-4681-a72a-625e33bfc357" providerId="ADAL" clId="{FD585106-175F-46C4-A373-692172758B21}"/>
    <pc:docChg chg="undo redo custSel modSld">
      <pc:chgData name="ADIB K.M SHAHRIAR ALAM" userId="cb92b437-61af-4681-a72a-625e33bfc357" providerId="ADAL" clId="{FD585106-175F-46C4-A373-692172758B21}" dt="2026-09-16T06:35:12.997" v="417" actId="20577"/>
      <pc:docMkLst>
        <pc:docMk/>
      </pc:docMkLst>
      <pc:sldChg chg="addSp delSp modSp mod">
        <pc:chgData name="ADIB K.M SHAHRIAR ALAM" userId="cb92b437-61af-4681-a72a-625e33bfc357" providerId="ADAL" clId="{FD585106-175F-46C4-A373-692172758B21}" dt="2026-09-16T06:35:12.997" v="417" actId="20577"/>
        <pc:sldMkLst>
          <pc:docMk/>
          <pc:sldMk cId="0" sldId="256"/>
        </pc:sldMkLst>
        <pc:spChg chg="mod">
          <ac:chgData name="ADIB K.M SHAHRIAR ALAM" userId="cb92b437-61af-4681-a72a-625e33bfc357" providerId="ADAL" clId="{FD585106-175F-46C4-A373-692172758B21}" dt="2026-09-02T02:01:44.968" v="129" actId="208"/>
          <ac:spMkLst>
            <pc:docMk/>
            <pc:sldMk cId="0" sldId="256"/>
            <ac:spMk id="7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10T10:30:06.956" v="405" actId="20577"/>
          <ac:spMkLst>
            <pc:docMk/>
            <pc:sldMk cId="0" sldId="256"/>
            <ac:spMk id="8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1:48:07.078" v="35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16T06:35:12.997" v="417" actId="20577"/>
          <ac:spMkLst>
            <pc:docMk/>
            <pc:sldMk cId="0" sldId="256"/>
            <ac:spMk id="10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1:48:45.319" v="43" actId="14100"/>
          <ac:spMkLst>
            <pc:docMk/>
            <pc:sldMk cId="0" sldId="256"/>
            <ac:spMk id="11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1:53:13.336" v="93" actId="1076"/>
          <ac:spMkLst>
            <pc:docMk/>
            <pc:sldMk cId="0" sldId="256"/>
            <ac:spMk id="12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27:43.465" v="263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1:49:17.022" v="50" actId="1076"/>
          <ac:spMkLst>
            <pc:docMk/>
            <pc:sldMk cId="0" sldId="256"/>
            <ac:spMk id="15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01:28.050" v="127" actId="208"/>
          <ac:spMkLst>
            <pc:docMk/>
            <pc:sldMk cId="0" sldId="256"/>
            <ac:spMk id="18" creationId="{00000000-0000-0000-0000-000000000000}"/>
          </ac:spMkLst>
        </pc:spChg>
        <pc:spChg chg="mod topLvl">
          <ac:chgData name="ADIB K.M SHAHRIAR ALAM" userId="cb92b437-61af-4681-a72a-625e33bfc357" providerId="ADAL" clId="{FD585106-175F-46C4-A373-692172758B21}" dt="2026-09-02T01:52:52.409" v="85" actId="164"/>
          <ac:spMkLst>
            <pc:docMk/>
            <pc:sldMk cId="0" sldId="256"/>
            <ac:spMk id="19" creationId="{00000000-0000-0000-0000-000000000000}"/>
          </ac:spMkLst>
        </pc:spChg>
        <pc:spChg chg="mod topLvl">
          <ac:chgData name="ADIB K.M SHAHRIAR ALAM" userId="cb92b437-61af-4681-a72a-625e33bfc357" providerId="ADAL" clId="{FD585106-175F-46C4-A373-692172758B21}" dt="2026-09-02T01:52:52.409" v="85" actId="164"/>
          <ac:spMkLst>
            <pc:docMk/>
            <pc:sldMk cId="0" sldId="256"/>
            <ac:spMk id="20" creationId="{00000000-0000-0000-0000-000000000000}"/>
          </ac:spMkLst>
        </pc:spChg>
        <pc:spChg chg="mod topLvl">
          <ac:chgData name="ADIB K.M SHAHRIAR ALAM" userId="cb92b437-61af-4681-a72a-625e33bfc357" providerId="ADAL" clId="{FD585106-175F-46C4-A373-692172758B21}" dt="2026-09-02T02:01:28.050" v="127" actId="208"/>
          <ac:spMkLst>
            <pc:docMk/>
            <pc:sldMk cId="0" sldId="256"/>
            <ac:spMk id="21" creationId="{00000000-0000-0000-0000-000000000000}"/>
          </ac:spMkLst>
        </pc:spChg>
        <pc:spChg chg="mod topLvl">
          <ac:chgData name="ADIB K.M SHAHRIAR ALAM" userId="cb92b437-61af-4681-a72a-625e33bfc357" providerId="ADAL" clId="{FD585106-175F-46C4-A373-692172758B21}" dt="2026-09-02T01:52:52.409" v="85" actId="164"/>
          <ac:spMkLst>
            <pc:docMk/>
            <pc:sldMk cId="0" sldId="256"/>
            <ac:spMk id="22" creationId="{00000000-0000-0000-0000-000000000000}"/>
          </ac:spMkLst>
        </pc:spChg>
        <pc:spChg chg="mod topLvl">
          <ac:chgData name="ADIB K.M SHAHRIAR ALAM" userId="cb92b437-61af-4681-a72a-625e33bfc357" providerId="ADAL" clId="{FD585106-175F-46C4-A373-692172758B21}" dt="2026-09-02T02:40:04.860" v="371" actId="2085"/>
          <ac:spMkLst>
            <pc:docMk/>
            <pc:sldMk cId="0" sldId="256"/>
            <ac:spMk id="23" creationId="{00000000-0000-0000-0000-000000000000}"/>
          </ac:spMkLst>
        </pc:spChg>
        <pc:spChg chg="mod topLvl">
          <ac:chgData name="ADIB K.M SHAHRIAR ALAM" userId="cb92b437-61af-4681-a72a-625e33bfc357" providerId="ADAL" clId="{FD585106-175F-46C4-A373-692172758B21}" dt="2026-09-02T02:40:04.860" v="371" actId="2085"/>
          <ac:spMkLst>
            <pc:docMk/>
            <pc:sldMk cId="0" sldId="256"/>
            <ac:spMk id="24" creationId="{00000000-0000-0000-0000-000000000000}"/>
          </ac:spMkLst>
        </pc:spChg>
        <pc:spChg chg="mod topLvl">
          <ac:chgData name="ADIB K.M SHAHRIAR ALAM" userId="cb92b437-61af-4681-a72a-625e33bfc357" providerId="ADAL" clId="{FD585106-175F-46C4-A373-692172758B21}" dt="2026-09-02T02:40:04.860" v="371" actId="2085"/>
          <ac:spMkLst>
            <pc:docMk/>
            <pc:sldMk cId="0" sldId="256"/>
            <ac:spMk id="25" creationId="{00000000-0000-0000-0000-000000000000}"/>
          </ac:spMkLst>
        </pc:spChg>
        <pc:spChg chg="mod topLvl">
          <ac:chgData name="ADIB K.M SHAHRIAR ALAM" userId="cb92b437-61af-4681-a72a-625e33bfc357" providerId="ADAL" clId="{FD585106-175F-46C4-A373-692172758B21}" dt="2026-09-02T02:40:04.860" v="371" actId="2085"/>
          <ac:spMkLst>
            <pc:docMk/>
            <pc:sldMk cId="0" sldId="256"/>
            <ac:spMk id="26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27:01.778" v="258" actId="14100"/>
          <ac:spMkLst>
            <pc:docMk/>
            <pc:sldMk cId="0" sldId="256"/>
            <ac:spMk id="27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01:28.050" v="127" actId="208"/>
          <ac:spMkLst>
            <pc:docMk/>
            <pc:sldMk cId="0" sldId="256"/>
            <ac:spMk id="33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36:10.602" v="322" actId="113"/>
          <ac:spMkLst>
            <pc:docMk/>
            <pc:sldMk cId="0" sldId="256"/>
            <ac:spMk id="35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01:44.968" v="129" actId="208"/>
          <ac:spMkLst>
            <pc:docMk/>
            <pc:sldMk cId="0" sldId="256"/>
            <ac:spMk id="40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41:12.327" v="372" actId="14100"/>
          <ac:spMkLst>
            <pc:docMk/>
            <pc:sldMk cId="0" sldId="256"/>
            <ac:spMk id="42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16:33.701" v="168" actId="14100"/>
          <ac:spMkLst>
            <pc:docMk/>
            <pc:sldMk cId="0" sldId="256"/>
            <ac:spMk id="43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00:51.684" v="121" actId="14100"/>
          <ac:spMkLst>
            <pc:docMk/>
            <pc:sldMk cId="0" sldId="256"/>
            <ac:spMk id="44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29:08.135" v="278" actId="20577"/>
          <ac:spMkLst>
            <pc:docMk/>
            <pc:sldMk cId="0" sldId="256"/>
            <ac:spMk id="45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37:57.928" v="366" actId="14100"/>
          <ac:spMkLst>
            <pc:docMk/>
            <pc:sldMk cId="0" sldId="256"/>
            <ac:spMk id="48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41:21.389" v="373" actId="14100"/>
          <ac:spMkLst>
            <pc:docMk/>
            <pc:sldMk cId="0" sldId="256"/>
            <ac:spMk id="51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03:11.536" v="143" actId="14100"/>
          <ac:spMkLst>
            <pc:docMk/>
            <pc:sldMk cId="0" sldId="256"/>
            <ac:spMk id="52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03:48.480" v="152" actId="14100"/>
          <ac:spMkLst>
            <pc:docMk/>
            <pc:sldMk cId="0" sldId="256"/>
            <ac:spMk id="55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39:27.471" v="369" actId="20577"/>
          <ac:spMkLst>
            <pc:docMk/>
            <pc:sldMk cId="0" sldId="256"/>
            <ac:spMk id="56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03:56.849" v="153" actId="14100"/>
          <ac:spMkLst>
            <pc:docMk/>
            <pc:sldMk cId="0" sldId="256"/>
            <ac:spMk id="57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04:02.478" v="154" actId="14100"/>
          <ac:spMkLst>
            <pc:docMk/>
            <pc:sldMk cId="0" sldId="256"/>
            <ac:spMk id="58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02:53.456" v="138" actId="14100"/>
          <ac:spMkLst>
            <pc:docMk/>
            <pc:sldMk cId="0" sldId="256"/>
            <ac:spMk id="60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02:25.377" v="132" actId="1076"/>
          <ac:spMkLst>
            <pc:docMk/>
            <pc:sldMk cId="0" sldId="256"/>
            <ac:spMk id="63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36:10.602" v="322" actId="113"/>
          <ac:spMkLst>
            <pc:docMk/>
            <pc:sldMk cId="0" sldId="256"/>
            <ac:spMk id="66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28:31.662" v="273" actId="14100"/>
          <ac:spMkLst>
            <pc:docMk/>
            <pc:sldMk cId="0" sldId="256"/>
            <ac:spMk id="67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01:18.636" v="126" actId="1076"/>
          <ac:spMkLst>
            <pc:docMk/>
            <pc:sldMk cId="0" sldId="256"/>
            <ac:spMk id="68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36:10.602" v="322" actId="113"/>
          <ac:spMkLst>
            <pc:docMk/>
            <pc:sldMk cId="0" sldId="256"/>
            <ac:spMk id="71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36:10.602" v="322" actId="113"/>
          <ac:spMkLst>
            <pc:docMk/>
            <pc:sldMk cId="0" sldId="256"/>
            <ac:spMk id="74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2:37:07.904" v="362" actId="14100"/>
          <ac:spMkLst>
            <pc:docMk/>
            <pc:sldMk cId="0" sldId="256"/>
            <ac:spMk id="77" creationId="{00000000-0000-0000-0000-000000000000}"/>
          </ac:spMkLst>
        </pc:spChg>
        <pc:spChg chg="mod">
          <ac:chgData name="ADIB K.M SHAHRIAR ALAM" userId="cb92b437-61af-4681-a72a-625e33bfc357" providerId="ADAL" clId="{FD585106-175F-46C4-A373-692172758B21}" dt="2026-09-02T01:52:35.332" v="83" actId="1076"/>
          <ac:spMkLst>
            <pc:docMk/>
            <pc:sldMk cId="0" sldId="256"/>
            <ac:spMk id="79" creationId="{AF157C4B-7A0B-0BB3-D7A2-CBE307B80256}"/>
          </ac:spMkLst>
        </pc:spChg>
        <pc:spChg chg="mod">
          <ac:chgData name="ADIB K.M SHAHRIAR ALAM" userId="cb92b437-61af-4681-a72a-625e33bfc357" providerId="ADAL" clId="{FD585106-175F-46C4-A373-692172758B21}" dt="2026-09-02T02:37:17.005" v="363" actId="1076"/>
          <ac:spMkLst>
            <pc:docMk/>
            <pc:sldMk cId="0" sldId="256"/>
            <ac:spMk id="106" creationId="{5B88D494-104D-C05A-9FA9-5FE0B9DB2F4C}"/>
          </ac:spMkLst>
        </pc:spChg>
        <pc:grpChg chg="add mod">
          <ac:chgData name="ADIB K.M SHAHRIAR ALAM" userId="cb92b437-61af-4681-a72a-625e33bfc357" providerId="ADAL" clId="{FD585106-175F-46C4-A373-692172758B21}" dt="2026-09-02T01:53:20.293" v="94" actId="1076"/>
          <ac:grpSpMkLst>
            <pc:docMk/>
            <pc:sldMk cId="0" sldId="256"/>
            <ac:grpSpMk id="30" creationId="{FF24FEE6-EDAA-3F64-0A62-28F3AF46F1C1}"/>
          </ac:grpSpMkLst>
        </pc:grpChg>
        <pc:cxnChg chg="mod">
          <ac:chgData name="ADIB K.M SHAHRIAR ALAM" userId="cb92b437-61af-4681-a72a-625e33bfc357" providerId="ADAL" clId="{FD585106-175F-46C4-A373-692172758B21}" dt="2026-09-02T01:52:39.894" v="84" actId="14100"/>
          <ac:cxnSpMkLst>
            <pc:docMk/>
            <pc:sldMk cId="0" sldId="256"/>
            <ac:cxnSpMk id="83" creationId="{48CB8BC2-F2BC-EBFA-FE0F-F26276A4015F}"/>
          </ac:cxnSpMkLst>
        </pc:cxnChg>
        <pc:cxnChg chg="mod">
          <ac:chgData name="ADIB K.M SHAHRIAR ALAM" userId="cb92b437-61af-4681-a72a-625e33bfc357" providerId="ADAL" clId="{FD585106-175F-46C4-A373-692172758B21}" dt="2026-09-02T01:52:39.894" v="84" actId="14100"/>
          <ac:cxnSpMkLst>
            <pc:docMk/>
            <pc:sldMk cId="0" sldId="256"/>
            <ac:cxnSpMk id="86" creationId="{5C22310E-622D-18D2-EF9A-8CCEF4C444C4}"/>
          </ac:cxnSpMkLst>
        </pc:cxnChg>
        <pc:cxnChg chg="mod">
          <ac:chgData name="ADIB K.M SHAHRIAR ALAM" userId="cb92b437-61af-4681-a72a-625e33bfc357" providerId="ADAL" clId="{FD585106-175F-46C4-A373-692172758B21}" dt="2026-09-02T02:37:07.904" v="362" actId="14100"/>
          <ac:cxnSpMkLst>
            <pc:docMk/>
            <pc:sldMk cId="0" sldId="256"/>
            <ac:cxnSpMk id="93" creationId="{217905B6-E6A6-8BDA-151A-8B2008AAE833}"/>
          </ac:cxnSpMkLst>
        </pc:cxnChg>
        <pc:cxnChg chg="mod">
          <ac:chgData name="ADIB K.M SHAHRIAR ALAM" userId="cb92b437-61af-4681-a72a-625e33bfc357" providerId="ADAL" clId="{FD585106-175F-46C4-A373-692172758B21}" dt="2026-09-02T02:01:13.239" v="125" actId="1076"/>
          <ac:cxnSpMkLst>
            <pc:docMk/>
            <pc:sldMk cId="0" sldId="256"/>
            <ac:cxnSpMk id="102" creationId="{9700D5FA-4371-5C44-098F-6F395EB97DBE}"/>
          </ac:cxnSpMkLst>
        </pc:cxnChg>
        <pc:cxnChg chg="mod">
          <ac:chgData name="ADIB K.M SHAHRIAR ALAM" userId="cb92b437-61af-4681-a72a-625e33bfc357" providerId="ADAL" clId="{FD585106-175F-46C4-A373-692172758B21}" dt="2026-09-02T02:17:15.736" v="172" actId="14100"/>
          <ac:cxnSpMkLst>
            <pc:docMk/>
            <pc:sldMk cId="0" sldId="256"/>
            <ac:cxnSpMk id="108" creationId="{7B80A0A0-857F-944D-E1A2-F6095CDA7B91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9854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69825" tIns="34913" rIns="69825" bIns="34913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69825" tIns="34913" rIns="69825" bIns="34913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5"/>
          <p:cNvSpPr/>
          <p:nvPr/>
        </p:nvSpPr>
        <p:spPr>
          <a:xfrm>
            <a:off x="7363" y="88334"/>
            <a:ext cx="6153292" cy="37045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 1 : Similarity-Variance based Sample Selection (SVSS)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055" y="604983"/>
            <a:ext cx="5252172" cy="485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889" tIns="889" rIns="889" bIns="889" rtlCol="0" anchor="ctr"/>
          <a:lstStyle/>
          <a:p>
            <a:pPr marL="0" indent="0" algn="ctr">
              <a:buNone/>
            </a:pPr>
            <a:r>
              <a:rPr lang="en-US" sz="150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040373" y="1090063"/>
            <a:ext cx="0" cy="282963"/>
          </a:xfrm>
          <a:prstGeom prst="line">
            <a:avLst/>
          </a:prstGeom>
          <a:noFill/>
          <a:ln w="2286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57055" y="1356422"/>
            <a:ext cx="5252171" cy="42216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889" tIns="889" rIns="889" bIns="889" rtlCol="0" anchor="ctr"/>
          <a:lstStyle/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Random 1% points  →  initial training set 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040373" y="1778585"/>
            <a:ext cx="0" cy="396209"/>
          </a:xfrm>
          <a:prstGeom prst="line">
            <a:avLst/>
          </a:prstGeom>
          <a:noFill/>
          <a:ln w="2286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07894" y="2198500"/>
            <a:ext cx="5668561" cy="4689562"/>
          </a:xfrm>
          <a:prstGeom prst="rect">
            <a:avLst/>
          </a:prstGeom>
          <a:solidFill>
            <a:schemeClr val="bg1"/>
          </a:solidFill>
          <a:ln w="15240"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74529" y="2271652"/>
            <a:ext cx="4731687" cy="22232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SVSS loop → repeats until |S| = T₁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831162" y="2577469"/>
            <a:ext cx="2365843" cy="46992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Fit GPR</a:t>
            </a:r>
            <a:r>
              <a:rPr lang="en-US" sz="1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 current 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590633" y="3290284"/>
            <a:ext cx="2910840" cy="76689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Score(i) = α·Simₙ(i) + β·Varₙ(i)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(α = β = 0.5)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Candidates: fᵢ = [μᵢ, σ²ᵢ]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FF24FEE6-EDAA-3F64-0A62-28F3AF46F1C1}"/>
              </a:ext>
            </a:extLst>
          </p:cNvPr>
          <p:cNvGrpSpPr/>
          <p:nvPr/>
        </p:nvGrpSpPr>
        <p:grpSpPr>
          <a:xfrm>
            <a:off x="293364" y="4960608"/>
            <a:ext cx="2133970" cy="1881529"/>
            <a:chOff x="261367" y="4825681"/>
            <a:chExt cx="2133970" cy="1881529"/>
          </a:xfrm>
        </p:grpSpPr>
        <p:sp>
          <p:nvSpPr>
            <p:cNvPr id="19" name="Shape 17"/>
            <p:cNvSpPr/>
            <p:nvPr/>
          </p:nvSpPr>
          <p:spPr>
            <a:xfrm>
              <a:off x="319060" y="5568338"/>
              <a:ext cx="421987" cy="813385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sz="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825445" y="5320785"/>
              <a:ext cx="421987" cy="106093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sz="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1331829" y="5073234"/>
              <a:ext cx="421987" cy="130849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sz="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1838213" y="4825681"/>
              <a:ext cx="421987" cy="1556042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prstDash val="solid"/>
            </a:ln>
          </p:spPr>
          <p:txBody>
            <a:bodyPr/>
            <a:lstStyle/>
            <a:p>
              <a:endParaRPr lang="en-US" sz="8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261367" y="6387233"/>
              <a:ext cx="506385" cy="3182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+1%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752209" y="6388087"/>
              <a:ext cx="506384" cy="3182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+1%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1258593" y="6388929"/>
              <a:ext cx="514975" cy="3182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300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+1%</a:t>
              </a:r>
              <a:endParaRPr lang="en-US" sz="13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1808873" y="6388929"/>
              <a:ext cx="586464" cy="31828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ctr"/>
            <a:lstStyle/>
            <a:p>
              <a:pPr algn="ctr"/>
              <a:r>
                <a:rPr lang="en-US" sz="1400" b="1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T₁ </a:t>
              </a:r>
              <a:r>
                <a:rPr lang="en-US" sz="1300" b="1" dirty="0">
                  <a:latin typeface="Times New Roman" panose="02020603050405020304" pitchFamily="18" charset="0"/>
                  <a:ea typeface="Calibri" pitchFamily="34" charset="-122"/>
                  <a:cs typeface="Times New Roman" panose="02020603050405020304" pitchFamily="18" charset="0"/>
                </a:rPr>
                <a:t>%</a:t>
              </a:r>
              <a:endParaRPr lang="en-US" sz="13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Text 25"/>
          <p:cNvSpPr/>
          <p:nvPr/>
        </p:nvSpPr>
        <p:spPr>
          <a:xfrm>
            <a:off x="2292197" y="6064637"/>
            <a:ext cx="3584258" cy="474975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Incremental batch growth  (step = 1% per iteration)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004620" y="6888062"/>
            <a:ext cx="0" cy="303175"/>
          </a:xfrm>
          <a:prstGeom prst="line">
            <a:avLst/>
          </a:prstGeom>
          <a:noFill/>
          <a:ln w="2286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93364" y="7191237"/>
            <a:ext cx="5441440" cy="5457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/>
          <a:p>
            <a:pPr algn="ctr"/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T₁ % SVSS Points  (Training set S with |S| = T₁)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094412" y="87397"/>
            <a:ext cx="6028169" cy="3729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 2 : Adaptive Short Distance Elimination (ASDE)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330995" y="604983"/>
            <a:ext cx="5791586" cy="48508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889" tIns="889" rIns="889" bIns="889" rtlCol="0" anchor="ctr"/>
          <a:lstStyle/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Input: set S (T₁ SVSS points)  →  compute per-point exclusion radii (αⱼ, βⱼ)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174737" y="1095453"/>
            <a:ext cx="3" cy="335004"/>
          </a:xfrm>
          <a:prstGeom prst="line">
            <a:avLst/>
          </a:prstGeom>
          <a:noFill/>
          <a:ln w="2286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330995" y="1430456"/>
            <a:ext cx="5687487" cy="5457606"/>
          </a:xfrm>
          <a:prstGeom prst="rect">
            <a:avLst/>
          </a:prstGeom>
          <a:solidFill>
            <a:schemeClr val="bg1"/>
          </a:solidFill>
          <a:ln w="15240">
            <a:solidFill>
              <a:schemeClr val="tx1"/>
            </a:solidFill>
            <a:prstDash val="dash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580293" y="1483363"/>
            <a:ext cx="5204855" cy="2425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Adaptive SDE  →  fills remaining budget to T₂ = T − T₁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6491873" y="1814478"/>
            <a:ext cx="5365733" cy="505292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6491873" y="1814478"/>
            <a:ext cx="5365733" cy="50529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NN(j) ← K=2 nearest neighbors of j in S\{j}  by Euclidean distance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203772" y="2319769"/>
            <a:ext cx="5098" cy="317166"/>
          </a:xfrm>
          <a:prstGeom prst="line">
            <a:avLst/>
          </a:prstGeom>
          <a:noFill/>
          <a:ln w="2286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491873" y="2636935"/>
            <a:ext cx="2588233" cy="4307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Local Spacing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491872" y="3054263"/>
            <a:ext cx="2588233" cy="116792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dx̄ⱼ = (1/K) Σ |xⱼ − xₚ|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dȳⱼ = (1/K) Σ |yⱼ − yₚ|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 ∈ NN(j)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269373" y="2636935"/>
            <a:ext cx="2588233" cy="430751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Value Roughness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269372" y="3067686"/>
            <a:ext cx="2588229" cy="11545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/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Rⱼ = std({vₚ : p ∈ NN(j)})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If Rⱼ &gt; τ (τ = 2.0):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 bumpⱼ = 1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Else: bumpⱼ = 0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785989" y="4222187"/>
            <a:ext cx="1" cy="417329"/>
          </a:xfrm>
          <a:prstGeom prst="line">
            <a:avLst/>
          </a:prstGeom>
          <a:noFill/>
          <a:ln w="2286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10563490" y="4222187"/>
            <a:ext cx="0" cy="417329"/>
          </a:xfrm>
          <a:prstGeom prst="line">
            <a:avLst/>
          </a:prstGeom>
          <a:noFill/>
          <a:ln w="2286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6539190" y="4639517"/>
            <a:ext cx="5365733" cy="7439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αⱼ = ⌈dx̄ⱼ⌉ + bumpⱼ          βⱼ = ⌈dȳⱼ⌉ + bumpⱼ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(per-point exclusion radius which varies by local anchor density)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6526003" y="5905297"/>
            <a:ext cx="5365733" cy="71504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 each i:  If |xᵢ − xⱼ| ≤ αⱼ  AND  |yᵢ − yⱼ| ≤ βⱼ  →  REJECT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Else  →  ACCEPT  (S ← S ∪ {i})   ·   fallback if |S| &lt; T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6417645" y="7214199"/>
            <a:ext cx="5530150" cy="52625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/>
          <a:p>
            <a:pPr algn="ctr"/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T₂ % Adaptive SDE Points  (|S| = T = T₁ + T₂)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3004620" y="7742908"/>
            <a:ext cx="0" cy="497174"/>
          </a:xfrm>
          <a:prstGeom prst="line">
            <a:avLst/>
          </a:prstGeom>
          <a:noFill/>
          <a:ln w="2286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Shape 66"/>
          <p:cNvSpPr/>
          <p:nvPr/>
        </p:nvSpPr>
        <p:spPr>
          <a:xfrm>
            <a:off x="9245434" y="7742908"/>
            <a:ext cx="0" cy="498548"/>
          </a:xfrm>
          <a:prstGeom prst="line">
            <a:avLst/>
          </a:prstGeom>
          <a:noFill/>
          <a:ln w="2286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1211311" y="8229845"/>
            <a:ext cx="9747275" cy="56592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/>
          <a:p>
            <a:pPr algn="ctr"/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T% Combined Training Set   (T₁ % SVSS + T₂ % Adaptive SDE  ≈ S points)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4438321" y="9100304"/>
            <a:ext cx="3312181" cy="4648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762" tIns="762" rIns="762" bIns="762" rtlCol="0" anchor="ctr"/>
          <a:lstStyle/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Final GPR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4438321" y="9845219"/>
            <a:ext cx="3347669" cy="46486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762" tIns="762" rIns="762" bIns="762" rtlCol="0" anchor="ctr"/>
          <a:lstStyle/>
          <a:p>
            <a:pPr algn="ctr"/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 (100-T) % test points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⁣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 16">
            <a:extLst>
              <a:ext uri="{FF2B5EF4-FFF2-40B4-BE49-F238E27FC236}">
                <a16:creationId xmlns:a16="http://schemas.microsoft.com/office/drawing/2014/main" id="{AF157C4B-7A0B-0BB3-D7A2-CBE307B80256}"/>
              </a:ext>
            </a:extLst>
          </p:cNvPr>
          <p:cNvSpPr/>
          <p:nvPr/>
        </p:nvSpPr>
        <p:spPr>
          <a:xfrm>
            <a:off x="1846804" y="4283661"/>
            <a:ext cx="2387135" cy="47497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500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Pick to candidates to S​</a:t>
            </a:r>
            <a:endParaRPr lang="en-US" sz="1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8CB8BC2-F2BC-EBFA-FE0F-F26276A4015F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3046053" y="3054264"/>
            <a:ext cx="0" cy="2360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5C22310E-622D-18D2-EF9A-8CCEF4C444C4}"/>
              </a:ext>
            </a:extLst>
          </p:cNvPr>
          <p:cNvCxnSpPr>
            <a:cxnSpLocks/>
            <a:stCxn id="18" idx="2"/>
            <a:endCxn id="79" idx="0"/>
          </p:cNvCxnSpPr>
          <p:nvPr/>
        </p:nvCxnSpPr>
        <p:spPr>
          <a:xfrm flipH="1">
            <a:off x="3040372" y="4057181"/>
            <a:ext cx="5681" cy="22648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17905B6-E6A6-8BDA-151A-8B2008AAE833}"/>
              </a:ext>
            </a:extLst>
          </p:cNvPr>
          <p:cNvCxnSpPr>
            <a:cxnSpLocks/>
            <a:stCxn id="74" idx="2"/>
            <a:endCxn id="77" idx="0"/>
          </p:cNvCxnSpPr>
          <p:nvPr/>
        </p:nvCxnSpPr>
        <p:spPr>
          <a:xfrm>
            <a:off x="6094412" y="9565172"/>
            <a:ext cx="17744" cy="2800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7FBD9AEE-3FA7-2F16-EF6E-00BD93531F50}"/>
              </a:ext>
            </a:extLst>
          </p:cNvPr>
          <p:cNvCxnSpPr>
            <a:stCxn id="71" idx="2"/>
            <a:endCxn id="74" idx="0"/>
          </p:cNvCxnSpPr>
          <p:nvPr/>
        </p:nvCxnSpPr>
        <p:spPr>
          <a:xfrm>
            <a:off x="6084949" y="8795772"/>
            <a:ext cx="9463" cy="30453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Arrow Connector 101">
            <a:extLst>
              <a:ext uri="{FF2B5EF4-FFF2-40B4-BE49-F238E27FC236}">
                <a16:creationId xmlns:a16="http://schemas.microsoft.com/office/drawing/2014/main" id="{9700D5FA-4371-5C44-098F-6F395EB97DBE}"/>
              </a:ext>
            </a:extLst>
          </p:cNvPr>
          <p:cNvCxnSpPr>
            <a:cxnSpLocks/>
            <a:stCxn id="44" idx="2"/>
            <a:endCxn id="66" idx="0"/>
          </p:cNvCxnSpPr>
          <p:nvPr/>
        </p:nvCxnSpPr>
        <p:spPr>
          <a:xfrm>
            <a:off x="9174739" y="6888062"/>
            <a:ext cx="7981" cy="3261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正方形/長方形 20">
            <a:extLst>
              <a:ext uri="{FF2B5EF4-FFF2-40B4-BE49-F238E27FC236}">
                <a16:creationId xmlns:a16="http://schemas.microsoft.com/office/drawing/2014/main" id="{5B88D494-104D-C05A-9FA9-5FE0B9DB2F4C}"/>
              </a:ext>
            </a:extLst>
          </p:cNvPr>
          <p:cNvSpPr/>
          <p:nvPr/>
        </p:nvSpPr>
        <p:spPr>
          <a:xfrm>
            <a:off x="9222056" y="9565172"/>
            <a:ext cx="2582562" cy="673405"/>
          </a:xfrm>
          <a:prstGeom prst="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300" dirty="0">
                <a:solidFill>
                  <a:schemeClr val="tx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Dotted Line : These steps will be repeated until  the sample size reaches certain level</a:t>
            </a:r>
            <a:endParaRPr kumimoji="1" lang="ja-JP" altLang="en-US" sz="13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7B80A0A0-857F-944D-E1A2-F6095CDA7B91}"/>
              </a:ext>
            </a:extLst>
          </p:cNvPr>
          <p:cNvCxnSpPr>
            <a:cxnSpLocks/>
            <a:endCxn id="63" idx="0"/>
          </p:cNvCxnSpPr>
          <p:nvPr/>
        </p:nvCxnSpPr>
        <p:spPr>
          <a:xfrm>
            <a:off x="9208870" y="5383460"/>
            <a:ext cx="0" cy="52183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3">
            <a:extLst>
              <a:ext uri="{FF2B5EF4-FFF2-40B4-BE49-F238E27FC236}">
                <a16:creationId xmlns:a16="http://schemas.microsoft.com/office/drawing/2014/main" id="{C67CFDD8-844F-1251-DD5B-F324707133AE}"/>
              </a:ext>
            </a:extLst>
          </p:cNvPr>
          <p:cNvSpPr/>
          <p:nvPr/>
        </p:nvSpPr>
        <p:spPr>
          <a:xfrm>
            <a:off x="228536" y="391301"/>
            <a:ext cx="5413248" cy="3034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— Phase 1: SVTS Selection</a:t>
            </a:r>
            <a:endParaRPr lang="en-US" sz="1100" dirty="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472B103C-D9A4-9066-ADE3-F095CD61F81D}"/>
              </a:ext>
            </a:extLst>
          </p:cNvPr>
          <p:cNvSpPr/>
          <p:nvPr/>
        </p:nvSpPr>
        <p:spPr>
          <a:xfrm>
            <a:off x="228536" y="884849"/>
            <a:ext cx="5431536" cy="5201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P — active path points</a:t>
            </a:r>
            <a:endParaRPr lang="en-US" sz="850" dirty="0"/>
          </a:p>
          <a:p>
            <a:pPr marL="0" indent="0" algn="l">
              <a:buNone/>
            </a:pPr>
            <a:r>
              <a:rPr lang="en-US" sz="85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T₁ = ⌃0.03·|P|⌄  step = ⌃0.01·|P|⌄</a:t>
            </a:r>
            <a:endParaRPr lang="en-US" sz="850" dirty="0"/>
          </a:p>
          <a:p>
            <a:pPr marL="0" indent="0" algn="l">
              <a:buNone/>
            </a:pPr>
            <a:r>
              <a:rPr lang="en-US" sz="85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= 0.5,  β = 0.5</a:t>
            </a:r>
            <a:endParaRPr lang="en-US" sz="850" dirty="0"/>
          </a:p>
        </p:txBody>
      </p:sp>
      <p:sp>
        <p:nvSpPr>
          <p:cNvPr id="7" name="Text 8">
            <a:extLst>
              <a:ext uri="{FF2B5EF4-FFF2-40B4-BE49-F238E27FC236}">
                <a16:creationId xmlns:a16="http://schemas.microsoft.com/office/drawing/2014/main" id="{B674A524-EC17-2975-5104-DE0AE2740D4D}"/>
              </a:ext>
            </a:extLst>
          </p:cNvPr>
          <p:cNvSpPr/>
          <p:nvPr/>
        </p:nvSpPr>
        <p:spPr>
          <a:xfrm>
            <a:off x="228536" y="1571160"/>
            <a:ext cx="5431536" cy="2889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← { single point drawn uniformly at random from P }</a:t>
            </a:r>
            <a:endParaRPr lang="en-US" sz="850" dirty="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270E3915-1688-510F-C4EA-891E618887F0}"/>
              </a:ext>
            </a:extLst>
          </p:cNvPr>
          <p:cNvSpPr/>
          <p:nvPr/>
        </p:nvSpPr>
        <p:spPr>
          <a:xfrm>
            <a:off x="228536" y="2052313"/>
            <a:ext cx="5340096" cy="1589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750" i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|S| &lt; T₁ do</a:t>
            </a:r>
            <a:endParaRPr lang="en-US" sz="750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F5E8697C-D6E4-76C2-4724-B6BC89EC0542}"/>
              </a:ext>
            </a:extLst>
          </p:cNvPr>
          <p:cNvSpPr/>
          <p:nvPr/>
        </p:nvSpPr>
        <p:spPr>
          <a:xfrm>
            <a:off x="447992" y="2421426"/>
            <a:ext cx="5047488" cy="274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Fit GPR (RBF, normalizer=True) on S</a:t>
            </a:r>
            <a:endParaRPr lang="en-US" sz="850" dirty="0"/>
          </a:p>
        </p:txBody>
      </p:sp>
      <p:sp>
        <p:nvSpPr>
          <p:cNvPr id="11" name="Shape 14">
            <a:extLst>
              <a:ext uri="{FF2B5EF4-FFF2-40B4-BE49-F238E27FC236}">
                <a16:creationId xmlns:a16="http://schemas.microsoft.com/office/drawing/2014/main" id="{51F5ABB8-F69F-817D-8FF6-E5A7235E7BE6}"/>
              </a:ext>
            </a:extLst>
          </p:cNvPr>
          <p:cNvSpPr/>
          <p:nvPr/>
        </p:nvSpPr>
        <p:spPr>
          <a:xfrm>
            <a:off x="2971736" y="2695963"/>
            <a:ext cx="0" cy="144493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3F255B64-E54E-AD6F-BDC5-7250B585484F}"/>
              </a:ext>
            </a:extLst>
          </p:cNvPr>
          <p:cNvSpPr/>
          <p:nvPr/>
        </p:nvSpPr>
        <p:spPr>
          <a:xfrm>
            <a:off x="447992" y="2840456"/>
            <a:ext cx="5047488" cy="28898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 (μᵢ, σ²ᵢ) for all i ∈ P\S  and  j ∈ S</a:t>
            </a:r>
            <a:endParaRPr lang="en-US" sz="850" dirty="0"/>
          </a:p>
        </p:txBody>
      </p:sp>
      <p:sp>
        <p:nvSpPr>
          <p:cNvPr id="13" name="Shape 17">
            <a:extLst>
              <a:ext uri="{FF2B5EF4-FFF2-40B4-BE49-F238E27FC236}">
                <a16:creationId xmlns:a16="http://schemas.microsoft.com/office/drawing/2014/main" id="{14527F7B-4E05-44BF-4A96-459C645DA332}"/>
              </a:ext>
            </a:extLst>
          </p:cNvPr>
          <p:cNvSpPr/>
          <p:nvPr/>
        </p:nvSpPr>
        <p:spPr>
          <a:xfrm>
            <a:off x="2971736" y="3129442"/>
            <a:ext cx="0" cy="144493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B2EC3936-7EDD-D042-437E-51342BB1BF02}"/>
              </a:ext>
            </a:extLst>
          </p:cNvPr>
          <p:cNvSpPr/>
          <p:nvPr/>
        </p:nvSpPr>
        <p:spPr>
          <a:xfrm>
            <a:off x="447992" y="3273935"/>
            <a:ext cx="5047488" cy="5201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 fᵢ = [μᵢ, σ²ᵢ]  for all i ∈ (P\S) ∪ S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Z-score normalize {fᵢ} jointly  →  {zᵢ}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 ← (1/|S|) · Σⱼ∈S zⱼ</a:t>
            </a:r>
            <a:endParaRPr lang="en-US" sz="850" dirty="0"/>
          </a:p>
        </p:txBody>
      </p:sp>
      <p:sp>
        <p:nvSpPr>
          <p:cNvPr id="15" name="Shape 20">
            <a:extLst>
              <a:ext uri="{FF2B5EF4-FFF2-40B4-BE49-F238E27FC236}">
                <a16:creationId xmlns:a16="http://schemas.microsoft.com/office/drawing/2014/main" id="{D98C6F74-31BD-486B-4F4B-0848338A254A}"/>
              </a:ext>
            </a:extLst>
          </p:cNvPr>
          <p:cNvSpPr/>
          <p:nvPr/>
        </p:nvSpPr>
        <p:spPr>
          <a:xfrm>
            <a:off x="2971736" y="3794109"/>
            <a:ext cx="0" cy="144493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22">
            <a:extLst>
              <a:ext uri="{FF2B5EF4-FFF2-40B4-BE49-F238E27FC236}">
                <a16:creationId xmlns:a16="http://schemas.microsoft.com/office/drawing/2014/main" id="{2EBB03C8-DFDD-B2F0-55FF-5D4EFF395CCD}"/>
              </a:ext>
            </a:extLst>
          </p:cNvPr>
          <p:cNvSpPr/>
          <p:nvPr/>
        </p:nvSpPr>
        <p:spPr>
          <a:xfrm>
            <a:off x="466280" y="3967501"/>
            <a:ext cx="5010912" cy="1589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750" i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candidate i ∈ P\S do</a:t>
            </a:r>
            <a:endParaRPr lang="en-US" sz="750" dirty="0"/>
          </a:p>
        </p:txBody>
      </p:sp>
      <p:sp>
        <p:nvSpPr>
          <p:cNvPr id="17" name="Text 24">
            <a:extLst>
              <a:ext uri="{FF2B5EF4-FFF2-40B4-BE49-F238E27FC236}">
                <a16:creationId xmlns:a16="http://schemas.microsoft.com/office/drawing/2014/main" id="{D48E60CE-5D00-4BEA-EE0A-004F49D8AFC4}"/>
              </a:ext>
            </a:extLst>
          </p:cNvPr>
          <p:cNvSpPr/>
          <p:nvPr/>
        </p:nvSpPr>
        <p:spPr>
          <a:xfrm>
            <a:off x="612584" y="4140893"/>
            <a:ext cx="4718304" cy="2600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Sim(i) ← mean-centered cosine similarity of zᵢ with c</a:t>
            </a:r>
            <a:endParaRPr lang="en-US" sz="850" dirty="0"/>
          </a:p>
        </p:txBody>
      </p:sp>
      <p:sp>
        <p:nvSpPr>
          <p:cNvPr id="18" name="Text 26">
            <a:extLst>
              <a:ext uri="{FF2B5EF4-FFF2-40B4-BE49-F238E27FC236}">
                <a16:creationId xmlns:a16="http://schemas.microsoft.com/office/drawing/2014/main" id="{8E524252-BE06-F62C-460F-1DA5709BBB66}"/>
              </a:ext>
            </a:extLst>
          </p:cNvPr>
          <p:cNvSpPr/>
          <p:nvPr/>
        </p:nvSpPr>
        <p:spPr>
          <a:xfrm>
            <a:off x="612584" y="4400980"/>
            <a:ext cx="4718304" cy="2600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Simₙ(i) ← min-max normalize Sim(i)</a:t>
            </a:r>
            <a:endParaRPr lang="en-US" sz="850" dirty="0"/>
          </a:p>
        </p:txBody>
      </p:sp>
      <p:sp>
        <p:nvSpPr>
          <p:cNvPr id="19" name="Text 28">
            <a:extLst>
              <a:ext uri="{FF2B5EF4-FFF2-40B4-BE49-F238E27FC236}">
                <a16:creationId xmlns:a16="http://schemas.microsoft.com/office/drawing/2014/main" id="{3F98990C-5330-1CBF-3FC1-48B8E0EF49B1}"/>
              </a:ext>
            </a:extLst>
          </p:cNvPr>
          <p:cNvSpPr/>
          <p:nvPr/>
        </p:nvSpPr>
        <p:spPr>
          <a:xfrm>
            <a:off x="612584" y="4661067"/>
            <a:ext cx="4718304" cy="2600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Varₙ(i) ← min-max normalize σ²ᵢ</a:t>
            </a:r>
            <a:endParaRPr lang="en-US" sz="850" dirty="0"/>
          </a:p>
        </p:txBody>
      </p:sp>
      <p:sp>
        <p:nvSpPr>
          <p:cNvPr id="20" name="Text 30">
            <a:extLst>
              <a:ext uri="{FF2B5EF4-FFF2-40B4-BE49-F238E27FC236}">
                <a16:creationId xmlns:a16="http://schemas.microsoft.com/office/drawing/2014/main" id="{9D8DCCA2-3AA9-9CA6-CF88-939967D8697C}"/>
              </a:ext>
            </a:extLst>
          </p:cNvPr>
          <p:cNvSpPr/>
          <p:nvPr/>
        </p:nvSpPr>
        <p:spPr>
          <a:xfrm>
            <a:off x="612584" y="4921155"/>
            <a:ext cx="4718304" cy="2600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Score(i) ← α·Simₙ(i) + β·Varₙ(i)</a:t>
            </a:r>
            <a:endParaRPr lang="en-US" sz="850" dirty="0"/>
          </a:p>
        </p:txBody>
      </p:sp>
      <p:sp>
        <p:nvSpPr>
          <p:cNvPr id="21" name="Shape 31">
            <a:extLst>
              <a:ext uri="{FF2B5EF4-FFF2-40B4-BE49-F238E27FC236}">
                <a16:creationId xmlns:a16="http://schemas.microsoft.com/office/drawing/2014/main" id="{E67CD9B4-DA40-D5AE-BFE1-EC2F6020E95C}"/>
              </a:ext>
            </a:extLst>
          </p:cNvPr>
          <p:cNvSpPr/>
          <p:nvPr/>
        </p:nvSpPr>
        <p:spPr>
          <a:xfrm>
            <a:off x="2971736" y="5036749"/>
            <a:ext cx="0" cy="158942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33">
            <a:extLst>
              <a:ext uri="{FF2B5EF4-FFF2-40B4-BE49-F238E27FC236}">
                <a16:creationId xmlns:a16="http://schemas.microsoft.com/office/drawing/2014/main" id="{FE9F64D2-06C8-CA5C-B854-77CCE05F490E}"/>
              </a:ext>
            </a:extLst>
          </p:cNvPr>
          <p:cNvSpPr/>
          <p:nvPr/>
        </p:nvSpPr>
        <p:spPr>
          <a:xfrm>
            <a:off x="447992" y="5195691"/>
            <a:ext cx="5047488" cy="3756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pick ← min(step, T₁ − |S|)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top-pick candidates (highest Score) to S</a:t>
            </a:r>
            <a:endParaRPr lang="en-US" sz="850" dirty="0"/>
          </a:p>
        </p:txBody>
      </p:sp>
      <p:sp>
        <p:nvSpPr>
          <p:cNvPr id="23" name="Shape 34">
            <a:extLst>
              <a:ext uri="{FF2B5EF4-FFF2-40B4-BE49-F238E27FC236}">
                <a16:creationId xmlns:a16="http://schemas.microsoft.com/office/drawing/2014/main" id="{00999456-D09B-DD0F-C4C6-90A94B7DCC5A}"/>
              </a:ext>
            </a:extLst>
          </p:cNvPr>
          <p:cNvSpPr/>
          <p:nvPr/>
        </p:nvSpPr>
        <p:spPr>
          <a:xfrm>
            <a:off x="5641784" y="5571373"/>
            <a:ext cx="0" cy="0"/>
          </a:xfrm>
          <a:prstGeom prst="line">
            <a:avLst/>
          </a:prstGeom>
          <a:noFill/>
          <a:ln w="15240">
            <a:solidFill>
              <a:schemeClr val="tx1"/>
            </a:solidFill>
            <a:prstDash val="sysDash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37">
            <a:extLst>
              <a:ext uri="{FF2B5EF4-FFF2-40B4-BE49-F238E27FC236}">
                <a16:creationId xmlns:a16="http://schemas.microsoft.com/office/drawing/2014/main" id="{9A44B0D3-22F2-6F5C-5152-0651A48EBEA7}"/>
              </a:ext>
            </a:extLst>
          </p:cNvPr>
          <p:cNvSpPr/>
          <p:nvPr/>
        </p:nvSpPr>
        <p:spPr>
          <a:xfrm>
            <a:off x="228536" y="5585822"/>
            <a:ext cx="5486400" cy="1589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750" i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while</a:t>
            </a:r>
            <a:endParaRPr lang="en-US" sz="750" dirty="0"/>
          </a:p>
        </p:txBody>
      </p:sp>
      <p:sp>
        <p:nvSpPr>
          <p:cNvPr id="27" name="Shape 38">
            <a:extLst>
              <a:ext uri="{FF2B5EF4-FFF2-40B4-BE49-F238E27FC236}">
                <a16:creationId xmlns:a16="http://schemas.microsoft.com/office/drawing/2014/main" id="{274C36B9-1944-F063-2CE7-EF712DFCA1AC}"/>
              </a:ext>
            </a:extLst>
          </p:cNvPr>
          <p:cNvSpPr/>
          <p:nvPr/>
        </p:nvSpPr>
        <p:spPr>
          <a:xfrm>
            <a:off x="2971736" y="5744765"/>
            <a:ext cx="0" cy="158942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40">
            <a:extLst>
              <a:ext uri="{FF2B5EF4-FFF2-40B4-BE49-F238E27FC236}">
                <a16:creationId xmlns:a16="http://schemas.microsoft.com/office/drawing/2014/main" id="{94D14290-6EE0-F1FC-F708-BEAF10456186}"/>
              </a:ext>
            </a:extLst>
          </p:cNvPr>
          <p:cNvSpPr/>
          <p:nvPr/>
        </p:nvSpPr>
        <p:spPr>
          <a:xfrm>
            <a:off x="283400" y="5903707"/>
            <a:ext cx="5376672" cy="274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S         ▶  Output: S, |S| = T₁</a:t>
            </a:r>
            <a:endParaRPr lang="en-US" sz="850" dirty="0"/>
          </a:p>
        </p:txBody>
      </p:sp>
      <p:sp>
        <p:nvSpPr>
          <p:cNvPr id="29" name="Text 42">
            <a:extLst>
              <a:ext uri="{FF2B5EF4-FFF2-40B4-BE49-F238E27FC236}">
                <a16:creationId xmlns:a16="http://schemas.microsoft.com/office/drawing/2014/main" id="{A7474A57-76FD-99FE-5F74-38025260C0E3}"/>
              </a:ext>
            </a:extLst>
          </p:cNvPr>
          <p:cNvSpPr/>
          <p:nvPr/>
        </p:nvSpPr>
        <p:spPr>
          <a:xfrm>
            <a:off x="6473888" y="395096"/>
            <a:ext cx="5413248" cy="30343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 — Phase 2: Adaptive SDE</a:t>
            </a:r>
            <a:endParaRPr lang="en-US" sz="1100" dirty="0"/>
          </a:p>
        </p:txBody>
      </p:sp>
      <p:sp>
        <p:nvSpPr>
          <p:cNvPr id="30" name="Text 44">
            <a:extLst>
              <a:ext uri="{FF2B5EF4-FFF2-40B4-BE49-F238E27FC236}">
                <a16:creationId xmlns:a16="http://schemas.microsoft.com/office/drawing/2014/main" id="{92769C71-960D-B94C-1AD6-935F5903D124}"/>
              </a:ext>
            </a:extLst>
          </p:cNvPr>
          <p:cNvSpPr/>
          <p:nvPr/>
        </p:nvSpPr>
        <p:spPr>
          <a:xfrm>
            <a:off x="6473888" y="888086"/>
            <a:ext cx="5376672" cy="4190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P;  S from Algorithm 1</a:t>
            </a:r>
            <a:endParaRPr lang="en-US" sz="850" dirty="0"/>
          </a:p>
          <a:p>
            <a:pPr marL="0" indent="0" algn="l">
              <a:buNone/>
            </a:pPr>
            <a:r>
              <a:rPr lang="en-US" sz="85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= ⌃0.10·|P|⌄,  K = 2,  τ = 2.0</a:t>
            </a:r>
            <a:endParaRPr lang="en-US" sz="850" dirty="0"/>
          </a:p>
        </p:txBody>
      </p:sp>
      <p:sp>
        <p:nvSpPr>
          <p:cNvPr id="31" name="Shape 45">
            <a:extLst>
              <a:ext uri="{FF2B5EF4-FFF2-40B4-BE49-F238E27FC236}">
                <a16:creationId xmlns:a16="http://schemas.microsoft.com/office/drawing/2014/main" id="{9FFDBF70-5DD3-43B7-206C-70B31DECFB52}"/>
              </a:ext>
            </a:extLst>
          </p:cNvPr>
          <p:cNvSpPr/>
          <p:nvPr/>
        </p:nvSpPr>
        <p:spPr>
          <a:xfrm>
            <a:off x="9217088" y="1496671"/>
            <a:ext cx="0" cy="158942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47">
            <a:extLst>
              <a:ext uri="{FF2B5EF4-FFF2-40B4-BE49-F238E27FC236}">
                <a16:creationId xmlns:a16="http://schemas.microsoft.com/office/drawing/2014/main" id="{C4C0B27B-01F4-BB92-8B25-4ED77EC6C987}"/>
              </a:ext>
            </a:extLst>
          </p:cNvPr>
          <p:cNvSpPr/>
          <p:nvPr/>
        </p:nvSpPr>
        <p:spPr>
          <a:xfrm>
            <a:off x="6547040" y="1684512"/>
            <a:ext cx="5340096" cy="1589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750" i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j ∈ S do</a:t>
            </a:r>
            <a:endParaRPr lang="en-US" sz="750" dirty="0"/>
          </a:p>
        </p:txBody>
      </p:sp>
      <p:sp>
        <p:nvSpPr>
          <p:cNvPr id="33" name="Text 49">
            <a:extLst>
              <a:ext uri="{FF2B5EF4-FFF2-40B4-BE49-F238E27FC236}">
                <a16:creationId xmlns:a16="http://schemas.microsoft.com/office/drawing/2014/main" id="{506F063D-7909-BDFB-8E3E-C58EE42EB432}"/>
              </a:ext>
            </a:extLst>
          </p:cNvPr>
          <p:cNvSpPr/>
          <p:nvPr/>
        </p:nvSpPr>
        <p:spPr>
          <a:xfrm>
            <a:off x="6693344" y="1857904"/>
            <a:ext cx="5047488" cy="274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NN(j) ← K nearest neighbors of j in S\{j}  (Euclidean)</a:t>
            </a:r>
            <a:endParaRPr lang="en-US" sz="850" dirty="0"/>
          </a:p>
        </p:txBody>
      </p:sp>
      <p:sp>
        <p:nvSpPr>
          <p:cNvPr id="34" name="Text 51">
            <a:extLst>
              <a:ext uri="{FF2B5EF4-FFF2-40B4-BE49-F238E27FC236}">
                <a16:creationId xmlns:a16="http://schemas.microsoft.com/office/drawing/2014/main" id="{39815174-0575-C0CE-6B97-BA943B1A7AAA}"/>
              </a:ext>
            </a:extLst>
          </p:cNvPr>
          <p:cNvSpPr/>
          <p:nvPr/>
        </p:nvSpPr>
        <p:spPr>
          <a:xfrm>
            <a:off x="6693344" y="2132440"/>
            <a:ext cx="5047488" cy="274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|NN(j)| = 0:  (αⱼ, βⱼ) ← (1, 1);  continue</a:t>
            </a:r>
            <a:endParaRPr lang="en-US" sz="850" dirty="0"/>
          </a:p>
        </p:txBody>
      </p:sp>
      <p:sp>
        <p:nvSpPr>
          <p:cNvPr id="35" name="Text 53">
            <a:extLst>
              <a:ext uri="{FF2B5EF4-FFF2-40B4-BE49-F238E27FC236}">
                <a16:creationId xmlns:a16="http://schemas.microsoft.com/office/drawing/2014/main" id="{26E4ED3D-A2B5-C727-BF87-C56945677B32}"/>
              </a:ext>
            </a:extLst>
          </p:cNvPr>
          <p:cNvSpPr/>
          <p:nvPr/>
        </p:nvSpPr>
        <p:spPr>
          <a:xfrm>
            <a:off x="6693344" y="2406977"/>
            <a:ext cx="5047488" cy="3612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dx̄ⱼ ← (1/K) Σₚ∈NN(ⱼ) |xⱼ − xₚ|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dȳⱼ ← (1/K) Σₚ∈NN(ⱼ) |yⱼ − yₚ|</a:t>
            </a:r>
            <a:endParaRPr lang="en-US" sz="850" dirty="0"/>
          </a:p>
        </p:txBody>
      </p:sp>
      <p:sp>
        <p:nvSpPr>
          <p:cNvPr id="36" name="Text 55">
            <a:extLst>
              <a:ext uri="{FF2B5EF4-FFF2-40B4-BE49-F238E27FC236}">
                <a16:creationId xmlns:a16="http://schemas.microsoft.com/office/drawing/2014/main" id="{82B41A52-6E12-1805-F85D-58FF106E923F}"/>
              </a:ext>
            </a:extLst>
          </p:cNvPr>
          <p:cNvSpPr/>
          <p:nvPr/>
        </p:nvSpPr>
        <p:spPr>
          <a:xfrm>
            <a:off x="6693344" y="2768209"/>
            <a:ext cx="5047488" cy="274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Rⱼ ← std({ vₚ : p ∈ NN(j) })</a:t>
            </a:r>
            <a:endParaRPr lang="en-US" sz="850" dirty="0"/>
          </a:p>
        </p:txBody>
      </p:sp>
      <p:sp>
        <p:nvSpPr>
          <p:cNvPr id="37" name="Text 57">
            <a:extLst>
              <a:ext uri="{FF2B5EF4-FFF2-40B4-BE49-F238E27FC236}">
                <a16:creationId xmlns:a16="http://schemas.microsoft.com/office/drawing/2014/main" id="{F2B0414D-5945-5842-721E-93FF909D5EAA}"/>
              </a:ext>
            </a:extLst>
          </p:cNvPr>
          <p:cNvSpPr/>
          <p:nvPr/>
        </p:nvSpPr>
        <p:spPr>
          <a:xfrm>
            <a:off x="6693344" y="3042746"/>
            <a:ext cx="5047488" cy="274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bumpⱼ ← 1  if  Rⱼ &gt; τ  else  0</a:t>
            </a:r>
            <a:endParaRPr lang="en-US" sz="850" dirty="0"/>
          </a:p>
        </p:txBody>
      </p:sp>
      <p:sp>
        <p:nvSpPr>
          <p:cNvPr id="38" name="Text 59">
            <a:extLst>
              <a:ext uri="{FF2B5EF4-FFF2-40B4-BE49-F238E27FC236}">
                <a16:creationId xmlns:a16="http://schemas.microsoft.com/office/drawing/2014/main" id="{771AC6C9-697E-60B2-13A7-9D1904AEAC27}"/>
              </a:ext>
            </a:extLst>
          </p:cNvPr>
          <p:cNvSpPr/>
          <p:nvPr/>
        </p:nvSpPr>
        <p:spPr>
          <a:xfrm>
            <a:off x="6693344" y="3317283"/>
            <a:ext cx="5047488" cy="3612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αⱼ ← ⌈dx̄ⱼ⌉ + bumpⱼ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βⱼ ← ⌈dȳⱼ⌉ + bumpⱼ</a:t>
            </a:r>
            <a:endParaRPr lang="en-US" sz="850" dirty="0"/>
          </a:p>
        </p:txBody>
      </p:sp>
      <p:sp>
        <p:nvSpPr>
          <p:cNvPr id="39" name="Text 60">
            <a:extLst>
              <a:ext uri="{FF2B5EF4-FFF2-40B4-BE49-F238E27FC236}">
                <a16:creationId xmlns:a16="http://schemas.microsoft.com/office/drawing/2014/main" id="{A7B2AAC3-8231-4FF3-708E-AC19C703B98F}"/>
              </a:ext>
            </a:extLst>
          </p:cNvPr>
          <p:cNvSpPr/>
          <p:nvPr/>
        </p:nvSpPr>
        <p:spPr>
          <a:xfrm>
            <a:off x="6473888" y="4256487"/>
            <a:ext cx="5486400" cy="1589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750" i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for</a:t>
            </a:r>
            <a:endParaRPr lang="en-US" sz="750" dirty="0"/>
          </a:p>
        </p:txBody>
      </p:sp>
      <p:sp>
        <p:nvSpPr>
          <p:cNvPr id="40" name="Shape 61">
            <a:extLst>
              <a:ext uri="{FF2B5EF4-FFF2-40B4-BE49-F238E27FC236}">
                <a16:creationId xmlns:a16="http://schemas.microsoft.com/office/drawing/2014/main" id="{7376684B-E913-0717-4608-0778E31BF2CC}"/>
              </a:ext>
            </a:extLst>
          </p:cNvPr>
          <p:cNvSpPr/>
          <p:nvPr/>
        </p:nvSpPr>
        <p:spPr>
          <a:xfrm>
            <a:off x="9217088" y="4400980"/>
            <a:ext cx="0" cy="144493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63">
            <a:extLst>
              <a:ext uri="{FF2B5EF4-FFF2-40B4-BE49-F238E27FC236}">
                <a16:creationId xmlns:a16="http://schemas.microsoft.com/office/drawing/2014/main" id="{7C1DB058-5132-6ADC-8369-36A3FE13D60A}"/>
              </a:ext>
            </a:extLst>
          </p:cNvPr>
          <p:cNvSpPr/>
          <p:nvPr/>
        </p:nvSpPr>
        <p:spPr>
          <a:xfrm>
            <a:off x="6528752" y="4545473"/>
            <a:ext cx="5376672" cy="274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α̅ ← mean({ αⱼ });    β̅ ← mean({ βⱼ })</a:t>
            </a:r>
            <a:endParaRPr lang="en-US" sz="850" dirty="0"/>
          </a:p>
        </p:txBody>
      </p:sp>
      <p:sp>
        <p:nvSpPr>
          <p:cNvPr id="42" name="Shape 64">
            <a:extLst>
              <a:ext uri="{FF2B5EF4-FFF2-40B4-BE49-F238E27FC236}">
                <a16:creationId xmlns:a16="http://schemas.microsoft.com/office/drawing/2014/main" id="{294176D6-FB2F-089E-F2CC-155332F38200}"/>
              </a:ext>
            </a:extLst>
          </p:cNvPr>
          <p:cNvSpPr/>
          <p:nvPr/>
        </p:nvSpPr>
        <p:spPr>
          <a:xfrm>
            <a:off x="9217088" y="4820010"/>
            <a:ext cx="0" cy="144493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66">
            <a:extLst>
              <a:ext uri="{FF2B5EF4-FFF2-40B4-BE49-F238E27FC236}">
                <a16:creationId xmlns:a16="http://schemas.microsoft.com/office/drawing/2014/main" id="{5585EE56-15CC-6963-5213-E07A624FC8C2}"/>
              </a:ext>
            </a:extLst>
          </p:cNvPr>
          <p:cNvSpPr/>
          <p:nvPr/>
        </p:nvSpPr>
        <p:spPr>
          <a:xfrm>
            <a:off x="6528752" y="4964503"/>
            <a:ext cx="5376672" cy="274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candidates ← shuffle(P \ S)</a:t>
            </a:r>
            <a:endParaRPr lang="en-US" sz="850" dirty="0"/>
          </a:p>
        </p:txBody>
      </p:sp>
      <p:sp>
        <p:nvSpPr>
          <p:cNvPr id="44" name="Shape 67">
            <a:extLst>
              <a:ext uri="{FF2B5EF4-FFF2-40B4-BE49-F238E27FC236}">
                <a16:creationId xmlns:a16="http://schemas.microsoft.com/office/drawing/2014/main" id="{F04E4D7A-1DDC-F7ED-3969-7BC0838FD310}"/>
              </a:ext>
            </a:extLst>
          </p:cNvPr>
          <p:cNvSpPr/>
          <p:nvPr/>
        </p:nvSpPr>
        <p:spPr>
          <a:xfrm>
            <a:off x="9217088" y="5239039"/>
            <a:ext cx="0" cy="144493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69">
            <a:extLst>
              <a:ext uri="{FF2B5EF4-FFF2-40B4-BE49-F238E27FC236}">
                <a16:creationId xmlns:a16="http://schemas.microsoft.com/office/drawing/2014/main" id="{522ABAE5-E122-A266-0378-C0E625C2FDE3}"/>
              </a:ext>
            </a:extLst>
          </p:cNvPr>
          <p:cNvSpPr/>
          <p:nvPr/>
        </p:nvSpPr>
        <p:spPr>
          <a:xfrm>
            <a:off x="6547040" y="5412431"/>
            <a:ext cx="5340096" cy="1589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750" i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i in candidates do</a:t>
            </a:r>
            <a:endParaRPr lang="en-US" sz="750" dirty="0"/>
          </a:p>
        </p:txBody>
      </p:sp>
      <p:sp>
        <p:nvSpPr>
          <p:cNvPr id="46" name="Text 71">
            <a:extLst>
              <a:ext uri="{FF2B5EF4-FFF2-40B4-BE49-F238E27FC236}">
                <a16:creationId xmlns:a16="http://schemas.microsoft.com/office/drawing/2014/main" id="{B9FD5107-959D-E37E-F5E2-D2A459EFEE8E}"/>
              </a:ext>
            </a:extLst>
          </p:cNvPr>
          <p:cNvSpPr/>
          <p:nvPr/>
        </p:nvSpPr>
        <p:spPr>
          <a:xfrm>
            <a:off x="6693344" y="5585822"/>
            <a:ext cx="5047488" cy="274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|S| = T:  break</a:t>
            </a:r>
            <a:endParaRPr lang="en-US" sz="850" dirty="0"/>
          </a:p>
        </p:txBody>
      </p:sp>
      <p:sp>
        <p:nvSpPr>
          <p:cNvPr id="47" name="Text 73">
            <a:extLst>
              <a:ext uri="{FF2B5EF4-FFF2-40B4-BE49-F238E27FC236}">
                <a16:creationId xmlns:a16="http://schemas.microsoft.com/office/drawing/2014/main" id="{107874B9-4EA5-FD3C-36E8-C70D8CEF5971}"/>
              </a:ext>
            </a:extLst>
          </p:cNvPr>
          <p:cNvSpPr/>
          <p:nvPr/>
        </p:nvSpPr>
        <p:spPr>
          <a:xfrm>
            <a:off x="6693344" y="5860359"/>
            <a:ext cx="5047488" cy="274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accepted ← True</a:t>
            </a:r>
            <a:endParaRPr lang="en-US" sz="850" dirty="0"/>
          </a:p>
        </p:txBody>
      </p:sp>
      <p:sp>
        <p:nvSpPr>
          <p:cNvPr id="48" name="Text 75">
            <a:extLst>
              <a:ext uri="{FF2B5EF4-FFF2-40B4-BE49-F238E27FC236}">
                <a16:creationId xmlns:a16="http://schemas.microsoft.com/office/drawing/2014/main" id="{94E58CEB-49C6-9457-8E20-A1E8AFAB66C5}"/>
              </a:ext>
            </a:extLst>
          </p:cNvPr>
          <p:cNvSpPr/>
          <p:nvPr/>
        </p:nvSpPr>
        <p:spPr>
          <a:xfrm>
            <a:off x="6711632" y="6163794"/>
            <a:ext cx="5010912" cy="1589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750" i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j ∈ S do</a:t>
            </a:r>
            <a:endParaRPr lang="en-US" sz="750" dirty="0"/>
          </a:p>
        </p:txBody>
      </p:sp>
      <p:sp>
        <p:nvSpPr>
          <p:cNvPr id="49" name="Text 77">
            <a:extLst>
              <a:ext uri="{FF2B5EF4-FFF2-40B4-BE49-F238E27FC236}">
                <a16:creationId xmlns:a16="http://schemas.microsoft.com/office/drawing/2014/main" id="{09D32790-6136-A521-D121-46640AAB980D}"/>
              </a:ext>
            </a:extLst>
          </p:cNvPr>
          <p:cNvSpPr/>
          <p:nvPr/>
        </p:nvSpPr>
        <p:spPr>
          <a:xfrm>
            <a:off x="6857936" y="6322736"/>
            <a:ext cx="4718304" cy="33233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|xᵢ−xⱼ| ≤ αⱼ  and  |yᵢ−yⱼ| ≤ βⱼ: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accepted ← False;  break</a:t>
            </a:r>
            <a:endParaRPr lang="en-US" sz="850" dirty="0"/>
          </a:p>
        </p:txBody>
      </p:sp>
      <p:sp>
        <p:nvSpPr>
          <p:cNvPr id="50" name="Text 78">
            <a:extLst>
              <a:ext uri="{FF2B5EF4-FFF2-40B4-BE49-F238E27FC236}">
                <a16:creationId xmlns:a16="http://schemas.microsoft.com/office/drawing/2014/main" id="{36ED56A6-5641-1A72-3EA7-B04DD61445BC}"/>
              </a:ext>
            </a:extLst>
          </p:cNvPr>
          <p:cNvSpPr/>
          <p:nvPr/>
        </p:nvSpPr>
        <p:spPr>
          <a:xfrm>
            <a:off x="6638480" y="6712867"/>
            <a:ext cx="5157216" cy="1300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700" i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for</a:t>
            </a:r>
            <a:endParaRPr lang="en-US" sz="700" dirty="0"/>
          </a:p>
        </p:txBody>
      </p:sp>
      <p:sp>
        <p:nvSpPr>
          <p:cNvPr id="51" name="Text 80">
            <a:extLst>
              <a:ext uri="{FF2B5EF4-FFF2-40B4-BE49-F238E27FC236}">
                <a16:creationId xmlns:a16="http://schemas.microsoft.com/office/drawing/2014/main" id="{0A68D4AD-53A0-3F24-3C29-2980924BDEED}"/>
              </a:ext>
            </a:extLst>
          </p:cNvPr>
          <p:cNvSpPr/>
          <p:nvPr/>
        </p:nvSpPr>
        <p:spPr>
          <a:xfrm>
            <a:off x="6693344" y="6828462"/>
            <a:ext cx="5047488" cy="3756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accepted: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 ← S ∪ {i};   (αᵢ, βᵢ) ← (α̅, β̅)</a:t>
            </a:r>
            <a:endParaRPr lang="en-US" sz="850" dirty="0"/>
          </a:p>
        </p:txBody>
      </p:sp>
      <p:sp>
        <p:nvSpPr>
          <p:cNvPr id="52" name="Text 81">
            <a:extLst>
              <a:ext uri="{FF2B5EF4-FFF2-40B4-BE49-F238E27FC236}">
                <a16:creationId xmlns:a16="http://schemas.microsoft.com/office/drawing/2014/main" id="{A7E4B189-032F-1C51-C7B5-1CFE7A4D5EA5}"/>
              </a:ext>
            </a:extLst>
          </p:cNvPr>
          <p:cNvSpPr/>
          <p:nvPr/>
        </p:nvSpPr>
        <p:spPr>
          <a:xfrm>
            <a:off x="6473888" y="7261941"/>
            <a:ext cx="5486400" cy="1589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750" i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for</a:t>
            </a:r>
            <a:endParaRPr lang="en-US" sz="750" dirty="0"/>
          </a:p>
        </p:txBody>
      </p:sp>
      <p:sp>
        <p:nvSpPr>
          <p:cNvPr id="53" name="Shape 82">
            <a:extLst>
              <a:ext uri="{FF2B5EF4-FFF2-40B4-BE49-F238E27FC236}">
                <a16:creationId xmlns:a16="http://schemas.microsoft.com/office/drawing/2014/main" id="{7CB2C6CA-0282-3B2D-0CB9-C83D4DE01695}"/>
              </a:ext>
            </a:extLst>
          </p:cNvPr>
          <p:cNvSpPr/>
          <p:nvPr/>
        </p:nvSpPr>
        <p:spPr>
          <a:xfrm>
            <a:off x="9217088" y="7406434"/>
            <a:ext cx="0" cy="144493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84">
            <a:extLst>
              <a:ext uri="{FF2B5EF4-FFF2-40B4-BE49-F238E27FC236}">
                <a16:creationId xmlns:a16="http://schemas.microsoft.com/office/drawing/2014/main" id="{7C33E48B-5A30-D771-D7C8-2BE2EF119CA4}"/>
              </a:ext>
            </a:extLst>
          </p:cNvPr>
          <p:cNvSpPr/>
          <p:nvPr/>
        </p:nvSpPr>
        <p:spPr>
          <a:xfrm>
            <a:off x="6528752" y="7550927"/>
            <a:ext cx="5376672" cy="37568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|S| &lt; T: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leftover ← shuffle(P\S)</a:t>
            </a:r>
            <a:endParaRPr lang="en-US" sz="850" dirty="0"/>
          </a:p>
          <a:p>
            <a:pPr marL="0" indent="0" algn="l">
              <a:buNone/>
            </a:pPr>
            <a:r>
              <a:rPr lang="en-US" sz="850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 ← S ∪ leftover[:T − |S|]</a:t>
            </a:r>
            <a:endParaRPr lang="en-US" sz="850" dirty="0"/>
          </a:p>
        </p:txBody>
      </p:sp>
      <p:sp>
        <p:nvSpPr>
          <p:cNvPr id="55" name="Shape 85">
            <a:extLst>
              <a:ext uri="{FF2B5EF4-FFF2-40B4-BE49-F238E27FC236}">
                <a16:creationId xmlns:a16="http://schemas.microsoft.com/office/drawing/2014/main" id="{A4AC953F-F65F-4671-005E-AED879EC2577}"/>
              </a:ext>
            </a:extLst>
          </p:cNvPr>
          <p:cNvSpPr/>
          <p:nvPr/>
        </p:nvSpPr>
        <p:spPr>
          <a:xfrm>
            <a:off x="9217088" y="7926608"/>
            <a:ext cx="0" cy="144493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87">
            <a:extLst>
              <a:ext uri="{FF2B5EF4-FFF2-40B4-BE49-F238E27FC236}">
                <a16:creationId xmlns:a16="http://schemas.microsoft.com/office/drawing/2014/main" id="{1C8BE98C-65EE-A1A9-C100-362C771ACAAF}"/>
              </a:ext>
            </a:extLst>
          </p:cNvPr>
          <p:cNvSpPr/>
          <p:nvPr/>
        </p:nvSpPr>
        <p:spPr>
          <a:xfrm>
            <a:off x="6528752" y="8071101"/>
            <a:ext cx="5376672" cy="27453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016" tIns="1016" rIns="1016" bIns="1016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buNone/>
            </a:pPr>
            <a:r>
              <a:rPr lang="en-US" sz="85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S         ▶  Output: S, |S| = T</a:t>
            </a:r>
            <a:endParaRPr lang="en-US" sz="850" dirty="0"/>
          </a:p>
        </p:txBody>
      </p:sp>
      <p:sp>
        <p:nvSpPr>
          <p:cNvPr id="57" name="Shape 88">
            <a:extLst>
              <a:ext uri="{FF2B5EF4-FFF2-40B4-BE49-F238E27FC236}">
                <a16:creationId xmlns:a16="http://schemas.microsoft.com/office/drawing/2014/main" id="{404CD7A7-943D-2F92-DA78-2C4302FA8B0A}"/>
              </a:ext>
            </a:extLst>
          </p:cNvPr>
          <p:cNvSpPr/>
          <p:nvPr/>
        </p:nvSpPr>
        <p:spPr>
          <a:xfrm>
            <a:off x="2971736" y="6178243"/>
            <a:ext cx="0" cy="2528627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89">
            <a:extLst>
              <a:ext uri="{FF2B5EF4-FFF2-40B4-BE49-F238E27FC236}">
                <a16:creationId xmlns:a16="http://schemas.microsoft.com/office/drawing/2014/main" id="{3DE65ADD-FE88-CB68-2174-308AA4D133A0}"/>
              </a:ext>
            </a:extLst>
          </p:cNvPr>
          <p:cNvSpPr/>
          <p:nvPr/>
        </p:nvSpPr>
        <p:spPr>
          <a:xfrm>
            <a:off x="9217088" y="8345638"/>
            <a:ext cx="0" cy="361232"/>
          </a:xfrm>
          <a:prstGeom prst="line">
            <a:avLst/>
          </a:prstGeom>
          <a:noFill/>
          <a:ln w="17780">
            <a:solidFill>
              <a:schemeClr val="tx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91">
            <a:extLst>
              <a:ext uri="{FF2B5EF4-FFF2-40B4-BE49-F238E27FC236}">
                <a16:creationId xmlns:a16="http://schemas.microsoft.com/office/drawing/2014/main" id="{459C186E-52D9-FFCD-DF4A-ECEA686825F2}"/>
              </a:ext>
            </a:extLst>
          </p:cNvPr>
          <p:cNvSpPr/>
          <p:nvPr/>
        </p:nvSpPr>
        <p:spPr>
          <a:xfrm>
            <a:off x="1371536" y="8706870"/>
            <a:ext cx="9418320" cy="4190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lIns="1270" tIns="1270" rIns="1270" bIns="127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50" b="1" dirty="0"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Combined 10% training set S  |  Fit final GPR (RBF, normalizer=True)  |  Predict i ∈ P\S:  δᵢ = |μᵢ − vᵢ| / dₛₚₑ⁣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4107232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950</Words>
  <Application>Microsoft Office PowerPoint</Application>
  <PresentationFormat>Custom</PresentationFormat>
  <Paragraphs>88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Courier New</vt:lpstr>
      <vt:lpstr>Times New Roman</vt:lpstr>
      <vt:lpstr>Office Theme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ADIB K.M SHAHRIAR ALAM</cp:lastModifiedBy>
  <cp:revision>5</cp:revision>
  <cp:lastPrinted>2026-08-20T14:30:22Z</cp:lastPrinted>
  <dcterms:created xsi:type="dcterms:W3CDTF">2026-08-20T12:36:32Z</dcterms:created>
  <dcterms:modified xsi:type="dcterms:W3CDTF">2026-09-16T06:35:18Z</dcterms:modified>
</cp:coreProperties>
</file>